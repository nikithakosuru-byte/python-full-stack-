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76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3" r:id="rId6"/>
    <p:sldId id="264" r:id="rId7"/>
    <p:sldId id="265" r:id="rId8"/>
    <p:sldId id="261" r:id="rId9"/>
    <p:sldId id="266" r:id="rId10"/>
    <p:sldId id="267" r:id="rId1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69368247-3E41-9075-ED04-EE54F4AD8183}" v="2" dt="2026-06-18T11:17:39.453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85098" autoAdjust="0"/>
  </p:normalViewPr>
  <p:slideViewPr>
    <p:cSldViewPr snapToGrid="0">
      <p:cViewPr varScale="1">
        <p:scale>
          <a:sx n="70" d="100"/>
          <a:sy n="70" d="100"/>
        </p:scale>
        <p:origin x="1166" y="5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18" Type="http://schemas.microsoft.com/office/2015/10/relationships/revisionInfo" Target="revisionInfo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microsoft.com/office/2016/11/relationships/changesInfo" Target="changesInfos/changesInfo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Guest User" providerId="Windows Live" clId="Web-{69368247-3E41-9075-ED04-EE54F4AD8183}"/>
    <pc:docChg chg="addSld delSld">
      <pc:chgData name="Guest User" userId="" providerId="Windows Live" clId="Web-{69368247-3E41-9075-ED04-EE54F4AD8183}" dt="2026-06-18T11:17:39.453" v="1"/>
      <pc:docMkLst>
        <pc:docMk/>
      </pc:docMkLst>
      <pc:sldChg chg="add del replId">
        <pc:chgData name="Guest User" userId="" providerId="Windows Live" clId="Web-{69368247-3E41-9075-ED04-EE54F4AD8183}" dt="2026-06-18T11:17:39.453" v="1"/>
        <pc:sldMkLst>
          <pc:docMk/>
          <pc:sldMk cId="2436789918" sldId="268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DEB9EFE-89F8-4B68-BB6D-18B7DA7F19F8}" type="datetimeFigureOut">
              <a:rPr lang="en-IN" smtClean="0"/>
              <a:t>18-06-2026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1B8A072-211E-4110-A457-16F8019E5F4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1510040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1B8A072-211E-4110-A457-16F8019E5F4A}" type="slidenum">
              <a:rPr lang="en-IN" smtClean="0"/>
              <a:t>1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3210380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blipFill dpi="0" rotWithShape="1">
            <a:blip r:embed="rId2">
              <a:alphaModFix amt="45000"/>
              <a:duotone>
                <a:schemeClr val="accent1">
                  <a:shade val="45000"/>
                  <a:satMod val="135000"/>
                </a:schemeClr>
                <a:prstClr val="white"/>
              </a:duotone>
            </a:blip>
            <a:srcRect/>
            <a:tile tx="-44450" ty="38100" sx="85000" sy="85000" flip="none" algn="tl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0" name="Rectangle 9"/>
          <p:cNvSpPr/>
          <p:nvPr/>
        </p:nvSpPr>
        <p:spPr>
          <a:xfrm>
            <a:off x="1307870" y="1267730"/>
            <a:ext cx="9576262" cy="4307950"/>
          </a:xfrm>
          <a:prstGeom prst="rect">
            <a:avLst/>
          </a:prstGeom>
          <a:solidFill>
            <a:schemeClr val="bg1"/>
          </a:solidFill>
          <a:ln w="6350" cap="flat" cmpd="sng" algn="ctr">
            <a:noFill/>
            <a:prstDash val="solid"/>
          </a:ln>
          <a:effectLst>
            <a:outerShdw blurRad="50800" algn="ctr" rotWithShape="0">
              <a:prstClr val="black">
                <a:alpha val="66000"/>
              </a:prstClr>
            </a:outerShdw>
            <a:softEdge rad="0"/>
          </a:effectLst>
        </p:spPr>
      </p:sp>
      <p:sp>
        <p:nvSpPr>
          <p:cNvPr id="11" name="Rectangle 10"/>
          <p:cNvSpPr/>
          <p:nvPr/>
        </p:nvSpPr>
        <p:spPr>
          <a:xfrm>
            <a:off x="1447801" y="1411615"/>
            <a:ext cx="9296400" cy="4034770"/>
          </a:xfrm>
          <a:prstGeom prst="rect">
            <a:avLst/>
          </a:prstGeom>
          <a:noFill/>
          <a:ln w="6350" cap="sq" cmpd="sng" algn="ctr">
            <a:solidFill>
              <a:schemeClr val="tx1">
                <a:lumMod val="75000"/>
                <a:lumOff val="25000"/>
              </a:schemeClr>
            </a:solidFill>
            <a:prstDash val="solid"/>
            <a:miter lim="800000"/>
          </a:ln>
          <a:effectLst/>
        </p:spPr>
      </p:sp>
      <p:sp>
        <p:nvSpPr>
          <p:cNvPr id="15" name="Rectangle 14"/>
          <p:cNvSpPr/>
          <p:nvPr/>
        </p:nvSpPr>
        <p:spPr>
          <a:xfrm>
            <a:off x="5135880" y="1267730"/>
            <a:ext cx="1920240" cy="73152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grpSp>
        <p:nvGrpSpPr>
          <p:cNvPr id="4" name="Group 3"/>
          <p:cNvGrpSpPr/>
          <p:nvPr/>
        </p:nvGrpSpPr>
        <p:grpSpPr>
          <a:xfrm>
            <a:off x="5250180" y="1267730"/>
            <a:ext cx="1691640" cy="645295"/>
            <a:chOff x="5318306" y="1386268"/>
            <a:chExt cx="1567331" cy="645295"/>
          </a:xfrm>
        </p:grpSpPr>
        <p:cxnSp>
          <p:nvCxnSpPr>
            <p:cNvPr id="17" name="Straight Connector 16"/>
            <p:cNvCxnSpPr/>
            <p:nvPr/>
          </p:nvCxnSpPr>
          <p:spPr>
            <a:xfrm>
              <a:off x="5318306" y="1386268"/>
              <a:ext cx="0" cy="640080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chemeClr val="tx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/>
            <p:cNvCxnSpPr/>
            <p:nvPr/>
          </p:nvCxnSpPr>
          <p:spPr>
            <a:xfrm>
              <a:off x="6885637" y="1386268"/>
              <a:ext cx="0" cy="640080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chemeClr val="tx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/>
            <p:cNvCxnSpPr/>
            <p:nvPr/>
          </p:nvCxnSpPr>
          <p:spPr>
            <a:xfrm>
              <a:off x="5318306" y="2031563"/>
              <a:ext cx="1567331" cy="0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chemeClr val="tx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61708" y="2091263"/>
            <a:ext cx="9068586" cy="2590800"/>
          </a:xfrm>
        </p:spPr>
        <p:txBody>
          <a:bodyPr tIns="45720" bIns="45720" anchor="ctr">
            <a:noAutofit/>
          </a:bodyPr>
          <a:lstStyle>
            <a:lvl1pPr algn="ctr">
              <a:lnSpc>
                <a:spcPct val="83000"/>
              </a:lnSpc>
              <a:defRPr lang="en-US" sz="7200" b="0" kern="1200" cap="all" spc="-100" baseline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j-lt"/>
                <a:ea typeface="+mn-ea"/>
                <a:cs typeface="+mn-cs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62100" y="4682062"/>
            <a:ext cx="9070848" cy="457201"/>
          </a:xfrm>
        </p:spPr>
        <p:txBody>
          <a:bodyPr>
            <a:normAutofit/>
          </a:bodyPr>
          <a:lstStyle>
            <a:lvl1pPr marL="0" indent="0" algn="ctr">
              <a:spcBef>
                <a:spcPts val="0"/>
              </a:spcBef>
              <a:buNone/>
              <a:defRPr sz="1600" spc="80" baseline="0">
                <a:solidFill>
                  <a:schemeClr val="tx1"/>
                </a:solidFill>
              </a:defRPr>
            </a:lvl1pPr>
            <a:lvl2pPr marL="457200" indent="0" algn="ctr">
              <a:buNone/>
              <a:defRPr sz="1600"/>
            </a:lvl2pPr>
            <a:lvl3pPr marL="914400" indent="0" algn="ctr">
              <a:buNone/>
              <a:defRPr sz="16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20" name="Date Placeholder 19"/>
          <p:cNvSpPr>
            <a:spLocks noGrp="1"/>
          </p:cNvSpPr>
          <p:nvPr>
            <p:ph type="dt" sz="half" idx="10"/>
          </p:nvPr>
        </p:nvSpPr>
        <p:spPr>
          <a:xfrm>
            <a:off x="5318760" y="1341255"/>
            <a:ext cx="1554480" cy="527213"/>
          </a:xfrm>
        </p:spPr>
        <p:txBody>
          <a:bodyPr/>
          <a:lstStyle>
            <a:lvl1pPr algn="ctr">
              <a:defRPr sz="1300" spc="0" baseline="0">
                <a:solidFill>
                  <a:schemeClr val="tx1"/>
                </a:solidFill>
                <a:latin typeface="+mn-lt"/>
              </a:defRPr>
            </a:lvl1pPr>
          </a:lstStyle>
          <a:p>
            <a:fld id="{DDA51639-B2D6-4652-B8C3-1B4C224A7BAF}" type="datetimeFigureOut">
              <a:rPr lang="en-US" dirty="0"/>
              <a:t>6/18/2026</a:t>
            </a:fld>
            <a:endParaRPr lang="en-US" dirty="0"/>
          </a:p>
        </p:txBody>
      </p:sp>
      <p:sp>
        <p:nvSpPr>
          <p:cNvPr id="21" name="Footer Placeholder 20"/>
          <p:cNvSpPr>
            <a:spLocks noGrp="1"/>
          </p:cNvSpPr>
          <p:nvPr>
            <p:ph type="ftr" sz="quarter" idx="11"/>
          </p:nvPr>
        </p:nvSpPr>
        <p:spPr>
          <a:xfrm>
            <a:off x="1453896" y="5211060"/>
            <a:ext cx="5905500" cy="228600"/>
          </a:xfrm>
        </p:spPr>
        <p:txBody>
          <a:bodyPr/>
          <a:lstStyle>
            <a:lvl1pPr algn="l"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22" name="Slide Number Placeholder 21"/>
          <p:cNvSpPr>
            <a:spLocks noGrp="1"/>
          </p:cNvSpPr>
          <p:nvPr>
            <p:ph type="sldNum" sz="quarter" idx="12"/>
          </p:nvPr>
        </p:nvSpPr>
        <p:spPr>
          <a:xfrm>
            <a:off x="8606919" y="5212080"/>
            <a:ext cx="2111881" cy="228600"/>
          </a:xfrm>
        </p:spPr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4FAB73BC-B049-4115-A692-8D63A059BFB8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F5DD9-2C52-442D-92E2-8072C0C3D7CD}" type="datetimeFigureOut">
              <a:rPr lang="en-US" dirty="0"/>
              <a:t>6/18/2026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 2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blipFill dpi="0" rotWithShape="1">
            <a:blip r:embed="rId2">
              <a:alphaModFix amt="45000"/>
              <a:duotone>
                <a:schemeClr val="accent2">
                  <a:shade val="45000"/>
                  <a:satMod val="135000"/>
                </a:schemeClr>
                <a:prstClr val="white"/>
              </a:duotone>
            </a:blip>
            <a:srcRect/>
            <a:tile tx="-44450" ty="38100" sx="85000" sy="85000" flip="none" algn="tl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3" name="Rectangle 22"/>
          <p:cNvSpPr/>
          <p:nvPr/>
        </p:nvSpPr>
        <p:spPr>
          <a:xfrm>
            <a:off x="1307870" y="1267730"/>
            <a:ext cx="9576262" cy="4307950"/>
          </a:xfrm>
          <a:prstGeom prst="rect">
            <a:avLst/>
          </a:prstGeom>
          <a:solidFill>
            <a:schemeClr val="bg1"/>
          </a:solidFill>
          <a:ln w="6350" cap="flat" cmpd="sng" algn="ctr">
            <a:noFill/>
            <a:prstDash val="solid"/>
          </a:ln>
          <a:effectLst>
            <a:outerShdw blurRad="50800" algn="ctr" rotWithShape="0">
              <a:prstClr val="black">
                <a:alpha val="66000"/>
              </a:prstClr>
            </a:outerShdw>
            <a:softEdge rad="0"/>
          </a:effectLst>
        </p:spPr>
      </p:sp>
      <p:sp>
        <p:nvSpPr>
          <p:cNvPr id="24" name="Rectangle 23"/>
          <p:cNvSpPr/>
          <p:nvPr/>
        </p:nvSpPr>
        <p:spPr>
          <a:xfrm>
            <a:off x="1447800" y="1411615"/>
            <a:ext cx="9296400" cy="4034770"/>
          </a:xfrm>
          <a:prstGeom prst="rect">
            <a:avLst/>
          </a:prstGeom>
          <a:noFill/>
          <a:ln w="6350" cap="sq" cmpd="sng" algn="ctr">
            <a:solidFill>
              <a:schemeClr val="tx1">
                <a:lumMod val="75000"/>
                <a:lumOff val="25000"/>
              </a:schemeClr>
            </a:solidFill>
            <a:prstDash val="solid"/>
            <a:miter lim="800000"/>
          </a:ln>
          <a:effectLst/>
        </p:spPr>
      </p:sp>
      <p:sp>
        <p:nvSpPr>
          <p:cNvPr id="30" name="Rectangle 29"/>
          <p:cNvSpPr/>
          <p:nvPr/>
        </p:nvSpPr>
        <p:spPr>
          <a:xfrm>
            <a:off x="5135880" y="1267730"/>
            <a:ext cx="1920240" cy="73152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grpSp>
        <p:nvGrpSpPr>
          <p:cNvPr id="31" name="Group 30"/>
          <p:cNvGrpSpPr/>
          <p:nvPr/>
        </p:nvGrpSpPr>
        <p:grpSpPr>
          <a:xfrm>
            <a:off x="5250180" y="1267730"/>
            <a:ext cx="1691640" cy="645295"/>
            <a:chOff x="5318306" y="1386268"/>
            <a:chExt cx="1567331" cy="645295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5318306" y="1386268"/>
              <a:ext cx="0" cy="640080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chemeClr val="tx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Connector 32"/>
            <p:cNvCxnSpPr/>
            <p:nvPr/>
          </p:nvCxnSpPr>
          <p:spPr>
            <a:xfrm>
              <a:off x="6885637" y="1386268"/>
              <a:ext cx="0" cy="640080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chemeClr val="tx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Connector 33"/>
            <p:cNvCxnSpPr/>
            <p:nvPr/>
          </p:nvCxnSpPr>
          <p:spPr>
            <a:xfrm>
              <a:off x="5318306" y="2031563"/>
              <a:ext cx="1567331" cy="0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chemeClr val="tx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63623" y="2094309"/>
            <a:ext cx="9070848" cy="2587752"/>
          </a:xfrm>
        </p:spPr>
        <p:txBody>
          <a:bodyPr anchor="ctr">
            <a:noAutofit/>
          </a:bodyPr>
          <a:lstStyle>
            <a:lvl1pPr algn="ctr">
              <a:lnSpc>
                <a:spcPct val="83000"/>
              </a:lnSpc>
              <a:defRPr lang="en-US" sz="7200" kern="1200" cap="all" spc="-100" baseline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j-lt"/>
                <a:ea typeface="+mn-ea"/>
                <a:cs typeface="+mn-cs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563624" y="4682062"/>
            <a:ext cx="9070848" cy="457200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>
                <a:solidFill>
                  <a:schemeClr val="tx1"/>
                </a:solidFill>
                <a:effectLst/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5321808" y="1344502"/>
            <a:ext cx="1554480" cy="530352"/>
          </a:xfrm>
        </p:spPr>
        <p:txBody>
          <a:bodyPr/>
          <a:lstStyle>
            <a:lvl1pPr algn="ctr">
              <a:defRPr lang="en-US" sz="1300" kern="1200" spc="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fld id="{C44961B7-6B89-48AB-966F-622E2788EECC}" type="datetimeFigureOut">
              <a:rPr lang="en-US" dirty="0"/>
              <a:t>6/18/2026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453553" y="5211060"/>
            <a:ext cx="5907024" cy="228600"/>
          </a:xfrm>
        </p:spPr>
        <p:txBody>
          <a:bodyPr/>
          <a:lstStyle>
            <a:lvl1pPr algn="l">
              <a:defRPr/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04504" y="5211060"/>
            <a:ext cx="2112264" cy="228600"/>
          </a:xfrm>
        </p:spPr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66800" y="2103120"/>
            <a:ext cx="4754880" cy="3749040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370320" y="2103120"/>
            <a:ext cx="4754880" cy="3749040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D3D6FB-79CC-4683-A046-BBE785BA1BED}" type="datetimeFigureOut">
              <a:rPr lang="en-US" dirty="0"/>
              <a:t>6/18/2026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69848" y="2074334"/>
            <a:ext cx="4754880" cy="640080"/>
          </a:xfrm>
        </p:spPr>
        <p:txBody>
          <a:bodyPr anchor="ctr">
            <a:normAutofit/>
          </a:bodyPr>
          <a:lstStyle>
            <a:lvl1pPr marL="0" indent="0" algn="ctr">
              <a:spcBef>
                <a:spcPts val="0"/>
              </a:spcBef>
              <a:buNone/>
              <a:defRPr sz="1900" b="0">
                <a:solidFill>
                  <a:schemeClr val="tx2"/>
                </a:solidFill>
                <a:latin typeface="+mn-lt"/>
              </a:defRPr>
            </a:lvl1pPr>
            <a:lvl2pPr marL="457200" indent="0">
              <a:buNone/>
              <a:defRPr sz="19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69848" y="2755898"/>
            <a:ext cx="4754880" cy="3200400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373368" y="2074334"/>
            <a:ext cx="4754880" cy="640080"/>
          </a:xfrm>
        </p:spPr>
        <p:txBody>
          <a:bodyPr anchor="ctr">
            <a:normAutofit/>
          </a:bodyPr>
          <a:lstStyle>
            <a:lvl1pPr marL="0" indent="0" algn="ctr">
              <a:spcBef>
                <a:spcPts val="0"/>
              </a:spcBef>
              <a:buNone/>
              <a:defRPr sz="1900" b="0">
                <a:solidFill>
                  <a:schemeClr val="tx2"/>
                </a:solidFill>
              </a:defRPr>
            </a:lvl1pPr>
            <a:lvl2pPr marL="457200" indent="0">
              <a:buNone/>
              <a:defRPr sz="19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373368" y="2756581"/>
            <a:ext cx="4754880" cy="3200400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12B3E8-48F1-4B23-8498-D8A04A81EC9C}" type="datetimeFigureOut">
              <a:rPr lang="en-US" dirty="0"/>
              <a:t>6/18/2026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B90D90-AA62-404D-A741-635B4370F9CB}" type="datetimeFigureOut">
              <a:rPr lang="en-US" dirty="0"/>
              <a:t>6/18/2026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7002E4-6836-46D1-9DBB-3C27C0DD3A89}" type="datetimeFigureOut">
              <a:rPr lang="en-US" dirty="0"/>
              <a:t>6/18/2026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/>
          <p:cNvSpPr/>
          <p:nvPr/>
        </p:nvSpPr>
        <p:spPr>
          <a:xfrm>
            <a:off x="245529" y="237744"/>
            <a:ext cx="8531352" cy="6382512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5" name="Rectangle 14"/>
          <p:cNvSpPr/>
          <p:nvPr/>
        </p:nvSpPr>
        <p:spPr>
          <a:xfrm>
            <a:off x="9020386" y="237744"/>
            <a:ext cx="2926080" cy="638251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296400" y="607392"/>
            <a:ext cx="2430780" cy="1645920"/>
          </a:xfrm>
        </p:spPr>
        <p:txBody>
          <a:bodyPr anchor="b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800" b="0" kern="1200" cap="none" spc="0" baseline="0" dirty="0">
                <a:solidFill>
                  <a:srgbClr val="FFFFFF"/>
                </a:solidFill>
                <a:effectLst/>
                <a:latin typeface="+mj-lt"/>
                <a:ea typeface="+mn-ea"/>
                <a:cs typeface="+mn-cs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5800" y="609600"/>
            <a:ext cx="7772400" cy="5334000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296400" y="2286000"/>
            <a:ext cx="2430780" cy="3505200"/>
          </a:xfrm>
        </p:spPr>
        <p:txBody>
          <a:bodyPr>
            <a:normAutofit/>
          </a:bodyPr>
          <a:lstStyle>
            <a:lvl1pPr marL="0" indent="0">
              <a:lnSpc>
                <a:spcPct val="110000"/>
              </a:lnSpc>
              <a:spcBef>
                <a:spcPts val="800"/>
              </a:spcBef>
              <a:buNone/>
              <a:defRPr sz="14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F131DD-A141-4471-BCF9-C6073EDD7E20}" type="datetimeFigureOut">
              <a:rPr lang="en-US" dirty="0"/>
              <a:t>6/18/2026</a:t>
            </a:fld>
            <a:endParaRPr lang="en-US" dirty="0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algn="r">
              <a:defRPr/>
            </a:lvl1pPr>
          </a:lstStyle>
          <a:p>
            <a:endParaRPr lang="en-US" dirty="0"/>
          </a:p>
        </p:txBody>
      </p:sp>
      <p:sp>
        <p:nvSpPr>
          <p:cNvPr id="11" name="Slide Number Placeholder 10"/>
          <p:cNvSpPr>
            <a:spLocks noGrp="1"/>
          </p:cNvSpPr>
          <p:nvPr>
            <p:ph type="sldNum" sz="quarter" idx="12"/>
          </p:nvPr>
        </p:nvSpPr>
        <p:spPr>
          <a:xfrm>
            <a:off x="10393677" y="6223002"/>
            <a:ext cx="1463040" cy="274320"/>
          </a:xfrm>
        </p:spPr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4FAB73BC-B049-4115-A692-8D63A059BFB8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12" name="Rectangle 11"/>
          <p:cNvSpPr/>
          <p:nvPr/>
        </p:nvSpPr>
        <p:spPr>
          <a:xfrm>
            <a:off x="9157546" y="374904"/>
            <a:ext cx="2651760" cy="6108192"/>
          </a:xfrm>
          <a:prstGeom prst="rect">
            <a:avLst/>
          </a:prstGeom>
          <a:noFill/>
          <a:ln w="6350" cap="sq">
            <a:solidFill>
              <a:srgbClr val="FFFFFF"/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/>
          <p:cNvSpPr/>
          <p:nvPr/>
        </p:nvSpPr>
        <p:spPr>
          <a:xfrm>
            <a:off x="9020386" y="237744"/>
            <a:ext cx="2926080" cy="638251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296400" y="603504"/>
            <a:ext cx="2432304" cy="1645920"/>
          </a:xfrm>
        </p:spPr>
        <p:txBody>
          <a:bodyPr anchor="b">
            <a:noAutofit/>
          </a:bodyPr>
          <a:lstStyle>
            <a:lvl1pPr algn="l">
              <a:defRPr sz="2800" b="0">
                <a:solidFill>
                  <a:srgbClr val="FFFFFF"/>
                </a:solidFill>
                <a:latin typeface="+mj-l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28599" y="237744"/>
            <a:ext cx="8531352" cy="6382512"/>
          </a:xfr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296400" y="2286000"/>
            <a:ext cx="2432304" cy="3502152"/>
          </a:xfrm>
        </p:spPr>
        <p:txBody>
          <a:bodyPr>
            <a:normAutofit/>
          </a:bodyPr>
          <a:lstStyle>
            <a:lvl1pPr marL="0" indent="0" algn="l">
              <a:lnSpc>
                <a:spcPct val="110000"/>
              </a:lnSpc>
              <a:spcBef>
                <a:spcPts val="800"/>
              </a:spcBef>
              <a:buNone/>
              <a:defRPr sz="14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  <a:effectLst>
                  <a:outerShdw blurRad="12700" dist="6350" dir="2700000" algn="tl" rotWithShape="0">
                    <a:prstClr val="black">
                      <a:alpha val="40000"/>
                    </a:prstClr>
                  </a:outerShdw>
                </a:effectLst>
              </a:defRPr>
            </a:lvl1pPr>
          </a:lstStyle>
          <a:p>
            <a:fld id="{AB334A90-EB03-42F3-8859-2C2B2724C058}" type="datetimeFigureOut">
              <a:rPr lang="en-US" dirty="0"/>
              <a:t>6/18/2026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marL="0" algn="r" defTabSz="914400" rtl="0" eaLnBrk="1" latinLnBrk="0" hangingPunct="1">
              <a:defRPr lang="en-US" sz="1000" kern="1200" dirty="0">
                <a:solidFill>
                  <a:srgbClr val="FFFFFF"/>
                </a:solidFill>
                <a:effectLst>
                  <a:outerShdw blurRad="12700" dist="6350" dir="2700000" algn="tl" rotWithShape="0">
                    <a:prstClr val="black">
                      <a:alpha val="40000"/>
                    </a:prstClr>
                  </a:outerShdw>
                </a:effectLst>
                <a:latin typeface="+mn-lt"/>
                <a:ea typeface="+mn-ea"/>
                <a:cs typeface="+mn-cs"/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396728" y="6227064"/>
            <a:ext cx="1463040" cy="274320"/>
          </a:xfrm>
        </p:spPr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4FAB73BC-B049-4115-A692-8D63A059BFB8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10" name="Rectangle 9"/>
          <p:cNvSpPr/>
          <p:nvPr/>
        </p:nvSpPr>
        <p:spPr>
          <a:xfrm>
            <a:off x="9157546" y="374904"/>
            <a:ext cx="2651760" cy="6108192"/>
          </a:xfrm>
          <a:prstGeom prst="rect">
            <a:avLst/>
          </a:prstGeom>
          <a:noFill/>
          <a:ln w="6350" cap="sq">
            <a:solidFill>
              <a:srgbClr val="FFFFFF"/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1A6AA8-A04B-4104-9AE2-BD48D340E27F}" type="datetimeFigureOut">
              <a:rPr lang="en-US" dirty="0"/>
              <a:t>6/18/2026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991600" y="762000"/>
            <a:ext cx="2362200" cy="52578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762000"/>
            <a:ext cx="8077200" cy="52578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E0BF79-FAC6-4A96-8DE1-F7B82E2E1652}" type="datetimeFigureOut">
              <a:rPr lang="en-US" dirty="0"/>
              <a:t>6/18/2026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234696" y="237744"/>
            <a:ext cx="11722608" cy="6382512"/>
          </a:xfrm>
          <a:prstGeom prst="rect">
            <a:avLst/>
          </a:prstGeom>
          <a:solidFill>
            <a:schemeClr val="bg2"/>
          </a:solidFill>
          <a:ln w="6350" cap="flat" cmpd="sng" algn="ctr">
            <a:noFill/>
            <a:prstDash val="solid"/>
          </a:ln>
          <a:effectLst>
            <a:softEdge rad="0"/>
          </a:effectLst>
        </p:spPr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66800" y="642594"/>
            <a:ext cx="10058400" cy="1371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66800" y="2103120"/>
            <a:ext cx="10058400" cy="393192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274320" y="6307672"/>
            <a:ext cx="2743200" cy="27432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CBC48EC7-AF6A-48D3-8284-14BACBEBDD84}" type="datetimeFigureOut">
              <a:rPr lang="en-US" dirty="0"/>
              <a:t>6/18/2026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489960" y="6307672"/>
            <a:ext cx="5212080" cy="27432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469880" y="6307672"/>
            <a:ext cx="1463040" cy="27432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4FAB73BC-B049-4115-A692-8D63A059BFB8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69" r:id="rId1"/>
    <p:sldLayoutId id="2147483770" r:id="rId2"/>
    <p:sldLayoutId id="2147483771" r:id="rId3"/>
    <p:sldLayoutId id="2147483772" r:id="rId4"/>
    <p:sldLayoutId id="2147483773" r:id="rId5"/>
    <p:sldLayoutId id="2147483774" r:id="rId6"/>
    <p:sldLayoutId id="2147483775" r:id="rId7"/>
    <p:sldLayoutId id="2147483776" r:id="rId8"/>
    <p:sldLayoutId id="2147483777" r:id="rId9"/>
    <p:sldLayoutId id="2147483778" r:id="rId10"/>
    <p:sldLayoutId id="2147483779" r:id="rId11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lang="en-US" sz="4800" kern="1200" cap="none" spc="0" baseline="0" dirty="0">
          <a:solidFill>
            <a:schemeClr val="tx1">
              <a:lumMod val="85000"/>
              <a:lumOff val="15000"/>
            </a:schemeClr>
          </a:solidFill>
          <a:effectLst/>
          <a:latin typeface="+mj-lt"/>
          <a:ea typeface="+mn-ea"/>
          <a:cs typeface="+mn-cs"/>
        </a:defRPr>
      </a:lvl1pPr>
    </p:titleStyle>
    <p:bodyStyle>
      <a:lvl1pPr marL="182880" indent="-182880" algn="l" defTabSz="914400" rtl="0" eaLnBrk="1" latinLnBrk="0" hangingPunct="1">
        <a:lnSpc>
          <a:spcPct val="100000"/>
        </a:lnSpc>
        <a:spcBef>
          <a:spcPts val="900"/>
        </a:spcBef>
        <a:spcAft>
          <a:spcPts val="0"/>
        </a:spcAft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18288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731520" indent="-18288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1005840" indent="-18288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1280160" indent="-18288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1600000" indent="-22860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1900000" indent="-22860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2200000" indent="-22860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2500000" indent="-22860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2DEDC8-7C4D-1478-FFEF-127D87A8A8A4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EAD5D9A-73FD-6DFF-18B6-229CFF00BE20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5F02C15-A89C-1821-F64B-BE7146C8715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14163" y="1219200"/>
            <a:ext cx="9957592" cy="42653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8462982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78247FF-DD5A-0629-1709-445B2EE52F0A}"/>
              </a:ext>
            </a:extLst>
          </p:cNvPr>
          <p:cNvSpPr>
            <a:spLocks noGrp="1"/>
          </p:cNvSpPr>
          <p:nvPr>
            <p:ph idx="4294967295"/>
          </p:nvPr>
        </p:nvSpPr>
        <p:spPr>
          <a:xfrm>
            <a:off x="274320" y="502920"/>
            <a:ext cx="9784080" cy="5532755"/>
          </a:xfrm>
        </p:spPr>
        <p:txBody>
          <a:bodyPr/>
          <a:lstStyle/>
          <a:p>
            <a:pPr marL="0" indent="0">
              <a:buNone/>
            </a:pPr>
            <a:r>
              <a:rPr lang="en-US" sz="3200" dirty="0"/>
              <a:t>Abstract:</a:t>
            </a:r>
          </a:p>
          <a:p>
            <a:pPr marL="0" indent="0">
              <a:buNone/>
            </a:pPr>
            <a:r>
              <a:rPr lang="en-US" sz="2400" dirty="0"/>
              <a:t>The Groceries Management System is a simple Python project. It helps users calculate grocery bills quickly and </a:t>
            </a:r>
            <a:r>
              <a:rPr lang="en-US" sz="2400" dirty="0" err="1"/>
              <a:t>accurately.The</a:t>
            </a:r>
            <a:r>
              <a:rPr lang="en-US" sz="2400" dirty="0"/>
              <a:t> user enters product details, and the program calculates the total amount. If the bill is more than ₹1000, a discount is given automatically.</a:t>
            </a:r>
            <a:endParaRPr lang="en-IN" sz="2400" dirty="0"/>
          </a:p>
        </p:txBody>
      </p:sp>
    </p:spTree>
    <p:extLst>
      <p:ext uri="{BB962C8B-B14F-4D97-AF65-F5344CB8AC3E}">
        <p14:creationId xmlns:p14="http://schemas.microsoft.com/office/powerpoint/2010/main" val="166829391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3DE52549-BDA9-2E92-CEBD-1FAA1523B7A8}"/>
              </a:ext>
            </a:extLst>
          </p:cNvPr>
          <p:cNvSpPr txBox="1"/>
          <p:nvPr/>
        </p:nvSpPr>
        <p:spPr>
          <a:xfrm>
            <a:off x="304800" y="548640"/>
            <a:ext cx="8686800" cy="243143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3200" dirty="0"/>
              <a:t>Introduction:</a:t>
            </a:r>
          </a:p>
          <a:p>
            <a:r>
              <a:rPr lang="en-IN" dirty="0"/>
              <a:t> </a:t>
            </a:r>
            <a:r>
              <a:rPr lang="en-IN" sz="2400" dirty="0"/>
              <a:t>grocery shops, bill calculation is done every day. </a:t>
            </a:r>
          </a:p>
          <a:p>
            <a:r>
              <a:rPr lang="en-IN" sz="2400" dirty="0"/>
              <a:t>Manual calculation takes more time </a:t>
            </a:r>
          </a:p>
          <a:p>
            <a:r>
              <a:rPr lang="en-IN" sz="2400" dirty="0"/>
              <a:t>and may cause mistakes.</a:t>
            </a:r>
          </a:p>
          <a:p>
            <a:r>
              <a:rPr lang="en-IN" sz="2400" dirty="0"/>
              <a:t>This system helps </a:t>
            </a:r>
            <a:r>
              <a:rPr lang="en-IN" sz="2400" dirty="0" err="1"/>
              <a:t>to:Calculate</a:t>
            </a:r>
            <a:r>
              <a:rPr lang="en-IN" sz="2400" dirty="0"/>
              <a:t> bills </a:t>
            </a:r>
            <a:r>
              <a:rPr lang="en-IN" sz="2400" dirty="0" err="1"/>
              <a:t>quicklyReduce</a:t>
            </a:r>
            <a:r>
              <a:rPr lang="en-IN" sz="2400" dirty="0"/>
              <a:t> </a:t>
            </a:r>
            <a:r>
              <a:rPr lang="en-IN" sz="2400" dirty="0" err="1"/>
              <a:t>mistakesSave</a:t>
            </a:r>
            <a:r>
              <a:rPr lang="en-IN" sz="2400" dirty="0"/>
              <a:t> </a:t>
            </a:r>
            <a:r>
              <a:rPr lang="en-IN" sz="2400" dirty="0" err="1"/>
              <a:t>timeMake</a:t>
            </a:r>
            <a:r>
              <a:rPr lang="en-IN" sz="2400" dirty="0"/>
              <a:t> billing easy.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A2F6E1D3-DE91-534F-9E0B-F3D600B20E0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92160" y="548640"/>
            <a:ext cx="3129280" cy="40500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5453975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9A27EB11-9B12-4D29-DDDC-2ED726470471}"/>
              </a:ext>
            </a:extLst>
          </p:cNvPr>
          <p:cNvSpPr txBox="1"/>
          <p:nvPr/>
        </p:nvSpPr>
        <p:spPr>
          <a:xfrm>
            <a:off x="345440" y="365760"/>
            <a:ext cx="8879840" cy="169277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 </a:t>
            </a:r>
            <a:r>
              <a:rPr lang="en-IN" sz="3200" dirty="0"/>
              <a:t>Objectives</a:t>
            </a:r>
            <a:r>
              <a:rPr lang="en-IN" dirty="0"/>
              <a:t>:</a:t>
            </a:r>
          </a:p>
          <a:p>
            <a:r>
              <a:rPr lang="en-IN" sz="2400" dirty="0"/>
              <a:t>The main goals of this project </a:t>
            </a:r>
            <a:r>
              <a:rPr lang="en-IN" sz="2400" dirty="0" err="1"/>
              <a:t>are:Add</a:t>
            </a:r>
            <a:r>
              <a:rPr lang="en-IN" sz="2400" dirty="0"/>
              <a:t> grocery </a:t>
            </a:r>
            <a:r>
              <a:rPr lang="en-IN" sz="2400" dirty="0" err="1"/>
              <a:t>itemsEnter</a:t>
            </a:r>
            <a:r>
              <a:rPr lang="en-IN" sz="2400" dirty="0"/>
              <a:t> price and </a:t>
            </a:r>
            <a:r>
              <a:rPr lang="en-IN" sz="2400" dirty="0" err="1"/>
              <a:t>quantityCalculate</a:t>
            </a:r>
            <a:r>
              <a:rPr lang="en-IN" sz="2400" dirty="0"/>
              <a:t> item </a:t>
            </a:r>
            <a:r>
              <a:rPr lang="en-IN" sz="2400" dirty="0" err="1"/>
              <a:t>amountCalculate</a:t>
            </a:r>
            <a:r>
              <a:rPr lang="en-IN" sz="2400" dirty="0"/>
              <a:t> total </a:t>
            </a:r>
            <a:r>
              <a:rPr lang="en-IN" sz="2400" dirty="0" err="1"/>
              <a:t>billGive</a:t>
            </a:r>
            <a:r>
              <a:rPr lang="en-IN" sz="2400" dirty="0"/>
              <a:t> discount when </a:t>
            </a:r>
            <a:r>
              <a:rPr lang="en-IN" sz="2400" dirty="0" err="1"/>
              <a:t>neededDisplay</a:t>
            </a:r>
            <a:r>
              <a:rPr lang="en-IN" sz="2400" dirty="0"/>
              <a:t> final bill.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9D3F0F5-753D-BDBA-76B1-18138EA5448D}"/>
              </a:ext>
            </a:extLst>
          </p:cNvPr>
          <p:cNvSpPr txBox="1"/>
          <p:nvPr/>
        </p:nvSpPr>
        <p:spPr>
          <a:xfrm>
            <a:off x="497840" y="2233136"/>
            <a:ext cx="6096000" cy="28007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 </a:t>
            </a:r>
            <a:r>
              <a:rPr lang="en-IN" sz="3200" dirty="0"/>
              <a:t>Working of the Project</a:t>
            </a:r>
            <a:r>
              <a:rPr lang="en-IN" dirty="0"/>
              <a:t>:</a:t>
            </a:r>
          </a:p>
          <a:p>
            <a:r>
              <a:rPr lang="en-IN" sz="2400" dirty="0"/>
              <a:t>How the Project </a:t>
            </a:r>
            <a:r>
              <a:rPr lang="en-IN" sz="2400" dirty="0" err="1"/>
              <a:t>WorksUser</a:t>
            </a:r>
            <a:r>
              <a:rPr lang="en-IN" sz="2400" dirty="0"/>
              <a:t> enters item </a:t>
            </a:r>
            <a:r>
              <a:rPr lang="en-IN" sz="2400" dirty="0" err="1"/>
              <a:t>name.User</a:t>
            </a:r>
            <a:r>
              <a:rPr lang="en-IN" sz="2400" dirty="0"/>
              <a:t> enters item </a:t>
            </a:r>
            <a:r>
              <a:rPr lang="en-IN" sz="2400" dirty="0" err="1"/>
              <a:t>price.User</a:t>
            </a:r>
            <a:r>
              <a:rPr lang="en-IN" sz="2400" dirty="0"/>
              <a:t> enters </a:t>
            </a:r>
            <a:r>
              <a:rPr lang="en-IN" sz="2400" dirty="0" err="1"/>
              <a:t>quantity.Program</a:t>
            </a:r>
            <a:r>
              <a:rPr lang="en-IN" sz="2400" dirty="0"/>
              <a:t> calculates </a:t>
            </a:r>
            <a:r>
              <a:rPr lang="en-IN" sz="2400" dirty="0" err="1"/>
              <a:t>amount.Amount</a:t>
            </a:r>
            <a:r>
              <a:rPr lang="en-IN" sz="2400" dirty="0"/>
              <a:t> is added to total </a:t>
            </a:r>
            <a:r>
              <a:rPr lang="en-IN" sz="2400" dirty="0" err="1"/>
              <a:t>bill.User</a:t>
            </a:r>
            <a:r>
              <a:rPr lang="en-IN" sz="2400" dirty="0"/>
              <a:t> can add more </a:t>
            </a:r>
            <a:r>
              <a:rPr lang="en-IN" sz="2400" dirty="0" err="1"/>
              <a:t>items.Final</a:t>
            </a:r>
            <a:r>
              <a:rPr lang="en-IN" sz="2400" dirty="0"/>
              <a:t> bill is displayed</a:t>
            </a:r>
            <a:r>
              <a:rPr lang="en-IN" dirty="0"/>
              <a:t>.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67505A25-D46A-15A0-0815-6C5553431CE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93840" y="2233137"/>
            <a:ext cx="5248543" cy="28007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302251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CD67288E-28FB-02A6-FC2D-7B32508CF37C}"/>
              </a:ext>
            </a:extLst>
          </p:cNvPr>
          <p:cNvSpPr txBox="1"/>
          <p:nvPr/>
        </p:nvSpPr>
        <p:spPr>
          <a:xfrm>
            <a:off x="350520" y="457200"/>
            <a:ext cx="12161520" cy="61247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3200" dirty="0"/>
              <a:t>Source code</a:t>
            </a:r>
            <a:r>
              <a:rPr lang="en-IN" dirty="0"/>
              <a:t>:</a:t>
            </a:r>
          </a:p>
          <a:p>
            <a:r>
              <a:rPr lang="en-IN" dirty="0"/>
              <a:t>print("GROCERY MANAGEMENT SYSTEM")</a:t>
            </a:r>
          </a:p>
          <a:p>
            <a:endParaRPr lang="en-IN" dirty="0"/>
          </a:p>
          <a:p>
            <a:r>
              <a:rPr lang="en-IN" dirty="0"/>
              <a:t>total = 0</a:t>
            </a:r>
          </a:p>
          <a:p>
            <a:endParaRPr lang="en-IN" dirty="0"/>
          </a:p>
          <a:p>
            <a:r>
              <a:rPr lang="en-IN" dirty="0"/>
              <a:t>while True:</a:t>
            </a:r>
          </a:p>
          <a:p>
            <a:r>
              <a:rPr lang="en-IN" dirty="0"/>
              <a:t>    item = input("Enter Item Name: ")</a:t>
            </a:r>
          </a:p>
          <a:p>
            <a:r>
              <a:rPr lang="en-IN" dirty="0"/>
              <a:t>    price = float(input("Enter Item Price: "))</a:t>
            </a:r>
          </a:p>
          <a:p>
            <a:r>
              <a:rPr lang="en-IN" dirty="0"/>
              <a:t>    quantity = int(input("Enter Quantity: "))</a:t>
            </a:r>
          </a:p>
          <a:p>
            <a:endParaRPr lang="en-IN" dirty="0"/>
          </a:p>
          <a:p>
            <a:r>
              <a:rPr lang="en-IN" dirty="0"/>
              <a:t>    amount = price * quantity</a:t>
            </a:r>
          </a:p>
          <a:p>
            <a:r>
              <a:rPr lang="en-IN" dirty="0"/>
              <a:t>    total = total + amount</a:t>
            </a:r>
          </a:p>
          <a:p>
            <a:endParaRPr lang="en-IN" dirty="0"/>
          </a:p>
          <a:p>
            <a:r>
              <a:rPr lang="en-IN" dirty="0"/>
              <a:t>    print("Item:", item)</a:t>
            </a:r>
          </a:p>
          <a:p>
            <a:r>
              <a:rPr lang="en-IN" dirty="0"/>
              <a:t>    print("Amount:", amount)</a:t>
            </a:r>
          </a:p>
          <a:p>
            <a:endParaRPr lang="en-IN" dirty="0"/>
          </a:p>
          <a:p>
            <a:r>
              <a:rPr lang="en-IN" dirty="0"/>
              <a:t>    choice = input("Add another item? (yes/no): ")</a:t>
            </a:r>
          </a:p>
          <a:p>
            <a:endParaRPr lang="en-IN" dirty="0"/>
          </a:p>
          <a:p>
            <a:r>
              <a:rPr lang="en-IN" dirty="0"/>
              <a:t>    if </a:t>
            </a:r>
            <a:r>
              <a:rPr lang="en-IN" dirty="0" err="1"/>
              <a:t>choice.lower</a:t>
            </a:r>
            <a:r>
              <a:rPr lang="en-IN" dirty="0"/>
              <a:t>() != "yes":</a:t>
            </a:r>
          </a:p>
          <a:p>
            <a:r>
              <a:rPr lang="en-IN" dirty="0"/>
              <a:t>        break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02739151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CCF32BAA-7394-98B6-ED3B-F669D199557B}"/>
              </a:ext>
            </a:extLst>
          </p:cNvPr>
          <p:cNvSpPr txBox="1"/>
          <p:nvPr/>
        </p:nvSpPr>
        <p:spPr>
          <a:xfrm>
            <a:off x="548640" y="457201"/>
            <a:ext cx="9372600" cy="36933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print("\n----- BILL -----")</a:t>
            </a:r>
          </a:p>
          <a:p>
            <a:r>
              <a:rPr lang="en-IN" dirty="0"/>
              <a:t>print("Total Amount =", total)</a:t>
            </a:r>
          </a:p>
          <a:p>
            <a:endParaRPr lang="en-IN" dirty="0"/>
          </a:p>
          <a:p>
            <a:r>
              <a:rPr lang="en-IN" dirty="0"/>
              <a:t>discount = 0</a:t>
            </a:r>
          </a:p>
          <a:p>
            <a:endParaRPr lang="en-IN" dirty="0"/>
          </a:p>
          <a:p>
            <a:r>
              <a:rPr lang="en-IN" dirty="0"/>
              <a:t>if total &gt; 1000:</a:t>
            </a:r>
          </a:p>
          <a:p>
            <a:r>
              <a:rPr lang="en-IN" dirty="0"/>
              <a:t>    discount = total * 0.1</a:t>
            </a:r>
          </a:p>
          <a:p>
            <a:endParaRPr lang="en-IN" dirty="0"/>
          </a:p>
          <a:p>
            <a:r>
              <a:rPr lang="en-IN" dirty="0" err="1"/>
              <a:t>final_bill</a:t>
            </a:r>
            <a:r>
              <a:rPr lang="en-IN" dirty="0"/>
              <a:t> = total - discount</a:t>
            </a:r>
          </a:p>
          <a:p>
            <a:endParaRPr lang="en-IN" dirty="0"/>
          </a:p>
          <a:p>
            <a:r>
              <a:rPr lang="en-IN" dirty="0"/>
              <a:t>print("Discount =", discount)</a:t>
            </a:r>
          </a:p>
          <a:p>
            <a:r>
              <a:rPr lang="en-IN" dirty="0"/>
              <a:t>print("Final Bill =", </a:t>
            </a:r>
            <a:r>
              <a:rPr lang="en-IN" dirty="0" err="1"/>
              <a:t>final_bill</a:t>
            </a:r>
            <a:r>
              <a:rPr lang="en-IN" dirty="0"/>
              <a:t>)</a:t>
            </a:r>
          </a:p>
          <a:p>
            <a:r>
              <a:rPr lang="en-IN" dirty="0"/>
              <a:t>print("Thank You Visit Again")</a:t>
            </a:r>
          </a:p>
        </p:txBody>
      </p:sp>
    </p:spTree>
    <p:extLst>
      <p:ext uri="{BB962C8B-B14F-4D97-AF65-F5344CB8AC3E}">
        <p14:creationId xmlns:p14="http://schemas.microsoft.com/office/powerpoint/2010/main" val="166679664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43983718-031E-0E61-8E1D-F1BF4575BF9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90917" y="653906"/>
            <a:ext cx="6149616" cy="47833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7418954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BE2791-1C8A-B4FD-ABA5-38E1104172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Advantages &amp; Disadvantages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B777980-87A4-80DE-5085-14FAF3667E8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066801" y="2014194"/>
            <a:ext cx="4754880" cy="3749040"/>
          </a:xfrm>
        </p:spPr>
        <p:txBody>
          <a:bodyPr/>
          <a:lstStyle/>
          <a:p>
            <a:pPr marL="0" indent="0">
              <a:buNone/>
            </a:pPr>
            <a:r>
              <a:rPr lang="en-US" sz="3200" dirty="0"/>
              <a:t>Advantages: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US" sz="2400" dirty="0"/>
              <a:t>Fast bill calculation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US" sz="2400" dirty="0"/>
              <a:t>Saves time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US" sz="2400" dirty="0"/>
              <a:t>Reduces mistakes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US" sz="2400" dirty="0"/>
              <a:t>Easy to use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US" sz="2400" dirty="0"/>
              <a:t>User friendly</a:t>
            </a:r>
            <a:endParaRPr lang="en-IN" sz="2400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ACDFBDF-395C-FCC9-C9E5-2F0129C7FF0F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pPr marL="0" indent="0">
              <a:buNone/>
            </a:pPr>
            <a:r>
              <a:rPr lang="en-IN" sz="3200" dirty="0"/>
              <a:t>Limitations: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IN" sz="2400" dirty="0"/>
              <a:t>No database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IN" sz="2400" dirty="0"/>
              <a:t>No graphical interface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IN" sz="2400" dirty="0"/>
              <a:t>Only basic </a:t>
            </a:r>
            <a:r>
              <a:rPr lang="en-IN" sz="2400" dirty="0" err="1"/>
              <a:t>billingSingle</a:t>
            </a:r>
            <a:r>
              <a:rPr lang="en-IN" sz="2400" dirty="0"/>
              <a:t> user system</a:t>
            </a:r>
          </a:p>
        </p:txBody>
      </p:sp>
    </p:spTree>
    <p:extLst>
      <p:ext uri="{BB962C8B-B14F-4D97-AF65-F5344CB8AC3E}">
        <p14:creationId xmlns:p14="http://schemas.microsoft.com/office/powerpoint/2010/main" val="409258123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91A40596-A7CD-D14F-FA89-2645F69E9B16}"/>
              </a:ext>
            </a:extLst>
          </p:cNvPr>
          <p:cNvSpPr txBox="1"/>
          <p:nvPr/>
        </p:nvSpPr>
        <p:spPr>
          <a:xfrm>
            <a:off x="783771" y="314632"/>
            <a:ext cx="10356176" cy="686341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3200" dirty="0"/>
              <a:t>Conclusion:</a:t>
            </a:r>
          </a:p>
          <a:p>
            <a:r>
              <a:rPr lang="en-IN" sz="2400" dirty="0"/>
              <a:t>The Groceries Management System is a simple and useful Python project. It helps users calculate grocery bills quickly and correctly. This project shows basic Python concepts such as variables, loops, conditions, and user input.</a:t>
            </a:r>
          </a:p>
          <a:p>
            <a:endParaRPr lang="en-IN" sz="2400" dirty="0"/>
          </a:p>
          <a:p>
            <a:endParaRPr lang="en-IN" sz="2400" dirty="0"/>
          </a:p>
          <a:p>
            <a:endParaRPr lang="en-IN" sz="2400" dirty="0"/>
          </a:p>
          <a:p>
            <a:endParaRPr lang="en-IN" sz="2400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23024545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0C3DFD99-EC3A-12F7-441F-DE99B6A4DB6D}"/>
              </a:ext>
            </a:extLst>
          </p:cNvPr>
          <p:cNvSpPr txBox="1"/>
          <p:nvPr/>
        </p:nvSpPr>
        <p:spPr>
          <a:xfrm>
            <a:off x="2133600" y="2068286"/>
            <a:ext cx="70104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3200" dirty="0"/>
              <a:t>🙏 Thank You! ✨</a:t>
            </a:r>
          </a:p>
        </p:txBody>
      </p:sp>
    </p:spTree>
    <p:extLst>
      <p:ext uri="{BB962C8B-B14F-4D97-AF65-F5344CB8AC3E}">
        <p14:creationId xmlns:p14="http://schemas.microsoft.com/office/powerpoint/2010/main" val="2440500567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Savon">
  <a:themeElements>
    <a:clrScheme name="Savon">
      <a:dk1>
        <a:sysClr val="windowText" lastClr="000000"/>
      </a:dk1>
      <a:lt1>
        <a:sysClr val="window" lastClr="FFFFFF"/>
      </a:lt1>
      <a:dk2>
        <a:srgbClr val="1485A4"/>
      </a:dk2>
      <a:lt2>
        <a:srgbClr val="E3DED1"/>
      </a:lt2>
      <a:accent1>
        <a:srgbClr val="1CADE4"/>
      </a:accent1>
      <a:accent2>
        <a:srgbClr val="2683C6"/>
      </a:accent2>
      <a:accent3>
        <a:srgbClr val="27CED7"/>
      </a:accent3>
      <a:accent4>
        <a:srgbClr val="42BA97"/>
      </a:accent4>
      <a:accent5>
        <a:srgbClr val="3E8853"/>
      </a:accent5>
      <a:accent6>
        <a:srgbClr val="62A39F"/>
      </a:accent6>
      <a:hlink>
        <a:srgbClr val="F49100"/>
      </a:hlink>
      <a:folHlink>
        <a:srgbClr val="739D9B"/>
      </a:folHlink>
    </a:clrScheme>
    <a:fontScheme name="Savon">
      <a:majorFont>
        <a:latin typeface="Century Gothic" panose="020B0502020202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Savon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satMod val="105000"/>
                <a:lumMod val="105000"/>
              </a:schemeClr>
            </a:gs>
            <a:gs pos="100000">
              <a:schemeClr val="phClr">
                <a:tint val="65000"/>
                <a:satMod val="100000"/>
                <a:lumMod val="100000"/>
              </a:schemeClr>
            </a:gs>
            <a:gs pos="100000">
              <a:schemeClr val="phClr">
                <a:tint val="70000"/>
                <a:satMod val="100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0000"/>
                <a:lumMod val="100000"/>
              </a:schemeClr>
            </a:gs>
            <a:gs pos="50000">
              <a:schemeClr val="phClr">
                <a:shade val="99000"/>
                <a:satMod val="105000"/>
                <a:lumMod val="100000"/>
              </a:schemeClr>
            </a:gs>
            <a:gs pos="100000">
              <a:schemeClr val="phClr">
                <a:shade val="98000"/>
                <a:satMod val="105000"/>
                <a:lumMod val="100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12700" dir="5400000" algn="ctr" rotWithShape="0">
              <a:srgbClr val="000000">
                <a:alpha val="63000"/>
              </a:srgbClr>
            </a:outerShdw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  <a:scene3d>
            <a:camera prst="orthographicFront">
              <a:rot lat="0" lon="0" rev="0"/>
            </a:camera>
            <a:lightRig rig="flat" dir="tl">
              <a:rot lat="0" lon="0" rev="4200000"/>
            </a:lightRig>
          </a:scene3d>
          <a:sp3d prstMaterial="flat">
            <a:bevelT w="50800" h="63500" prst="riblet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shade val="92000"/>
                <a:satMod val="160000"/>
              </a:schemeClr>
            </a:gs>
            <a:gs pos="77000">
              <a:schemeClr val="phClr">
                <a:tint val="100000"/>
                <a:shade val="73000"/>
                <a:satMod val="155000"/>
              </a:schemeClr>
            </a:gs>
            <a:gs pos="100000">
              <a:schemeClr val="phClr">
                <a:tint val="100000"/>
                <a:shade val="67000"/>
                <a:satMod val="145000"/>
              </a:schemeClr>
            </a:gs>
          </a:gsLst>
          <a:lin ang="5400000" scaled="0"/>
        </a:gradFill>
        <a:blipFill rotWithShape="1">
          <a:blip xmlns:r="http://schemas.openxmlformats.org/officeDocument/2006/relationships" r:embed="rId1">
            <a:duotone>
              <a:schemeClr val="phClr">
                <a:tint val="95000"/>
              </a:schemeClr>
              <a:schemeClr val="phClr">
                <a:shade val="92000"/>
                <a:satMod val="115000"/>
              </a:schemeClr>
            </a:duotone>
          </a:blip>
          <a:tile tx="0" ty="0" sx="60000" sy="60000" flip="none" algn="tl"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avon" id="{1306E473-ED32-493B-A2D0-240A757EDD34}" vid="{C20BADFE-D095-436F-9677-9264042809F0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TM03457510[[fn=Savon]]</Template>
  <TotalTime>82</TotalTime>
  <Words>393</Words>
  <Application>Microsoft Office PowerPoint</Application>
  <PresentationFormat>Widescreen</PresentationFormat>
  <Paragraphs>73</Paragraphs>
  <Slides>10</Slides>
  <Notes>1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1" baseType="lpstr">
      <vt:lpstr>Savon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Advantages &amp; Disadvantages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Hari krishna kosuru</dc:creator>
  <cp:lastModifiedBy>Hari krishna kosuru</cp:lastModifiedBy>
  <cp:revision>4</cp:revision>
  <dcterms:created xsi:type="dcterms:W3CDTF">2026-06-14T01:49:59Z</dcterms:created>
  <dcterms:modified xsi:type="dcterms:W3CDTF">2026-06-18T11:17:41Z</dcterms:modified>
</cp:coreProperties>
</file>